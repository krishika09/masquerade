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r>
              <a:rPr lang="en-GB" sz="1200" b="0" i="0" u="none" strike="noStrike">
                <a:solidFill>
                  <a:srgbClr val="6B7280"/>
                </a:solidFill>
                <a:latin typeface="+mn-lt"/>
              </a:rPr>
              <a:t>Initial weight per contradiction (points)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Initial weight</c:v>
                </c:pt>
              </c:strCache>
            </c:strRef>
          </c:tx>
          <c:spPr>
            <a:solidFill>
              <a:srgbClr val="8C2B2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5171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Identity</c:v>
                </c:pt>
                <c:pt idx="1">
                  <c:v>RWX section</c:v>
                </c:pt>
                <c:pt idx="2">
                  <c:v>High entropy</c:v>
                </c:pt>
                <c:pt idx="3">
                  <c:v>Entropy-content</c:v>
                </c:pt>
                <c:pt idx="4">
                  <c:v>API combination</c:v>
                </c:pt>
                <c:pt idx="5">
                  <c:v>Structural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63-4F7F-8F1F-3F86BADEEC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171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03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Masquerade: a static PE triage framework that looks for contradictions between PE properties and reports a calibrated, explainable risk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problems: unexplained verdicts, uncalibrated scores, and files that disguise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 contradictions, explain them, calibrate the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Analysts cannot reverse engineer everything; attackers control names and metadata independently of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Masquerade adds a layer on top of signatures and ML; it explains why a file looks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Literature on static PE ML, entropy-based packing detection, calibration, and masquerading.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research question is deliberately not 'can ML detect malware'.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Framed as an integrated methodology, not as new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Contradiction = properties that do not naturally agree with each other or with the apparent identity of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stages, from ingest to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 left to right, then bottom row right to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category compares different PE properties.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stack small; every tool serves the research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sandbox is built; validation uses 5-10 samples in an isolated VM.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Initial weights are a starting point, tuned on validation, not claimed optimal.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values; the real ones come from the final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dataset modest; state limits honestly. Remove near-duplicates before splitting.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experiments answer the research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 a PE file, analyze, view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format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output, contradiction output, reliability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with measured values from the final run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Checks that static contradictions match real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Ghidra, Procmon and Process Explorer, Wireshark and Regshot.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the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contributions.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3"/>
                </a:solidFill>
              </a:rPr>
              <a:t>Masquerade: Explainable Static Malware Triage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5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6"/>
                </a:solidFill>
              </a:rPr>
              <a:t>Masquerade: Explainable Static Malware Triage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6"/>
                </a:solidFill>
              </a:rPr>
              <a:t>Masquerade: Explainable Static Malware Triage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2"/>
                </a:solidFill>
              </a:rPr>
              <a:t>A MALWARE ANALYSIS CASE STUDY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Masquerade: Explainable Static Malware Triage</a:t>
            </a:r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through PE Contradiction Detection and Calibrated Risk Scoring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383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Manan Arora (23BCI0046), Krishika Sureka (23BCI0087)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307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Department of Computer Science and Engineering, Vellore Institute of Technology, Vellore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2"/>
                </a:solidFill>
              </a:rPr>
              <a:t>CASE STUDY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Problem statement</a:t>
            </a:r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Opaque.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Overconfident.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Disguised.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Opaque verdicts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6459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Many classifiers return a score with no reason an analyst can check.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Overconfident scores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2697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A raw model output is not automatically a probability, so 0.9 is hard to act on.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3429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Disguised files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37490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Malware imitates legitimate files, but its structure disagrees with its claimed identity.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CASE STUDY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Objectives</a:t>
            </a:r>
          </a:p>
        </p:txBody>
      </p:sp>
      <p:sp>
        <p:nvSpPr>
          <p:cNvPr id="5" name="Text 2"/>
          <p:cNvSpPr txBox="1"/>
          <p:nvPr/>
        </p:nvSpPr>
        <p:spPr>
          <a:xfrm>
            <a:off x="457200" y="13258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3258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Detect contradictions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6916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Extract PE features with pefile and flag properties that disagree with each other or with the apparent identity of the file.</a:t>
            </a:r>
            <a:endParaRPr lang="en-US" sz="1400" dirty="0"/>
          </a:p>
        </p:txBody>
      </p:sp>
      <p:sp>
        <p:nvSpPr>
          <p:cNvPr id="8" name="Divider"/>
          <p:cNvSpPr/>
          <p:nvPr/>
        </p:nvSpPr>
        <p:spPr>
          <a:xfrm>
            <a:off x="1371600" y="2331720"/>
            <a:ext cx="722376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24231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4231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Explain the verdict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278892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Turn every contradiction into named, scored evidence with raw values, so each finding can be verified in the file.</a:t>
            </a:r>
            <a:endParaRPr lang="en-US" sz="1400" dirty="0"/>
          </a:p>
        </p:txBody>
      </p:sp>
      <p:sp>
        <p:nvSpPr>
          <p:cNvPr id="12" name="Divider"/>
          <p:cNvSpPr/>
          <p:nvPr/>
        </p:nvSpPr>
        <p:spPr>
          <a:xfrm>
            <a:off x="1371600" y="3429000"/>
            <a:ext cx="722376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3520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35204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Calibrate the risk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388620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Combine rule evidence with a Random Forest and calibrate it, so the reported probability can be trusted for prioritization.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CASE STUDY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Threat motivation</a:t>
            </a:r>
          </a:p>
        </p:txBody>
      </p:sp>
      <p:sp>
        <p:nvSpPr>
          <p:cNvPr id="5" name="Text 2"/>
          <p:cNvSpPr txBox="1"/>
          <p:nvPr/>
        </p:nvSpPr>
        <p:spPr>
          <a:xfrm>
            <a:off x="45720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Who is affected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64208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SOC analysts and small security teams receive far more suspicious executables than they can reverse engineer. They need a fast, trustworthy first pass.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880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218688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Attackers control file names, section labels and import tables independently of the code, so a disguised file shows its inconsistencies in its own structure.</a:t>
            </a:r>
            <a:endParaRPr lang="en-US" sz="1400" dirty="0"/>
          </a:p>
        </p:txBody>
      </p:sp>
      <p:sp>
        <p:nvSpPr>
          <p:cNvPr id="9" name="Dark card"/>
          <p:cNvSpPr/>
          <p:nvPr/>
        </p:nvSpPr>
        <p:spPr>
          <a:xfrm>
            <a:off x="4937760" y="1325880"/>
            <a:ext cx="3749040" cy="30632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21208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One signal is not enough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Single feature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212080" y="2350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high entropy alone is not proof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21208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Contradiction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212080" y="3127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entropy, imports and strings that disagree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21208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Calibrated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212080" y="39044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a probability an analyst can trust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EXISTING SYSTEM AND RESEARCH GAP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Conventional triage vs. Masquerade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88340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Conventional static triage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Masquerade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Detection basis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Signatures, or ML on each feature separately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Relationships between features and claimed identity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Evidence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Individual suspicious features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Named contradictions with raw values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Output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Verdict or raw model score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Risk level plus calibrated probability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Explanation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Often limited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Per-finding evidence and IoCs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Blind spot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New variants; opaque scores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Heavily packed files; rules need review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Masquerade does not replace signatures or ML. It adds a layer that can say why a file looks wrong.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EXISTING SYSTEM AND RESEARCH GAP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Literature and research gap</a:t>
            </a:r>
          </a:p>
        </p:txBody>
      </p:sp>
      <p:sp>
        <p:nvSpPr>
          <p:cNvPr id="5" name="Text 2"/>
          <p:cNvSpPr txBox="1"/>
          <p:nvPr/>
        </p:nvSpPr>
        <p:spPr>
          <a:xfrm>
            <a:off x="457200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Anderson and Roth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184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EMBER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38528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accent5"/>
                </a:solidFill>
              </a:rPr>
              <a:t>Open dataset and baseline for static PE malware ML. Strong features; limited per-sample explanation. [1]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2542032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Lyda and Hamrock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542032" y="16184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Entropy analysis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542032" y="1938528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accent5"/>
                </a:solidFill>
              </a:rPr>
              <a:t>Finds encrypted and packed malware through entropy. Entropy alone also flags legitimate packed software. [2]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626864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Guo et al.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626864" y="16184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Calibration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626864" y="1938528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accent5"/>
                </a:solidFill>
              </a:rPr>
              <a:t>Modern models are often poorly calibrated; post-hoc methods improve probability reliability. [3]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711696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MITRE ATT&amp;CK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711696" y="16184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T1036 Masquerading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711696" y="1938528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accent5"/>
                </a:solidFill>
              </a:rPr>
              <a:t>Knowledge base of masquerading techniques; not a detection method for PE files. [4]</a:t>
            </a:r>
            <a:endParaRPr lang="en-US" sz="1250" dirty="0"/>
          </a:p>
        </p:txBody>
      </p:sp>
      <p:sp>
        <p:nvSpPr>
          <p:cNvPr id="17" name="Gap band"/>
          <p:cNvSpPr/>
          <p:nvPr/>
        </p:nvSpPr>
        <p:spPr>
          <a:xfrm>
            <a:off x="0" y="3520440"/>
            <a:ext cx="9144000" cy="1143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57200" y="3639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2"/>
                </a:solidFill>
              </a:rPr>
              <a:t>THE GAP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390448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Existing work treats features independently, explains little, and often reports uncalibrated scores. Masquerade combines contradiction evidence, an explainable score and calibration in one triage workflow.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RESEARCH FOCUS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Research question and hypothesis</a:t>
            </a:r>
          </a:p>
        </p:txBody>
      </p:sp>
      <p:sp>
        <p:nvSpPr>
          <p:cNvPr id="5" name="Card"/>
          <p:cNvSpPr/>
          <p:nvPr/>
        </p:nvSpPr>
        <p:spPr>
          <a:xfrm>
            <a:off x="457200" y="1325880"/>
            <a:ext cx="3977640" cy="3063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1508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1"/>
                </a:solidFill>
              </a:rPr>
              <a:t>RESEARCH QUESTION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Can relationships and contradictions among PE-level features improve the explainability and reliability of static malware triage compared with conventional feature-based classification?</a:t>
            </a:r>
            <a:endParaRPr lang="en-US" sz="1500" dirty="0"/>
          </a:p>
        </p:txBody>
      </p:sp>
      <p:sp>
        <p:nvSpPr>
          <p:cNvPr id="8" name="Dark card"/>
          <p:cNvSpPr/>
          <p:nvPr/>
        </p:nvSpPr>
        <p:spPr>
          <a:xfrm>
            <a:off x="4709160" y="1325880"/>
            <a:ext cx="3977640" cy="30632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937760" y="1508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2"/>
                </a:solidFill>
              </a:rPr>
              <a:t>HYPOTHESIS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82880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Interpretable PE contradiction features can improve triage performance and give more meaningful explanations, while probability calibration makes the resulting risk estimates more reliable.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RESEARCH FOCUS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Three contributions</a:t>
            </a:r>
          </a:p>
        </p:txBody>
      </p:sp>
      <p:sp>
        <p:nvSpPr>
          <p:cNvPr id="5" name="Card"/>
          <p:cNvSpPr/>
          <p:nvPr/>
        </p:nvSpPr>
        <p:spPr>
          <a:xfrm>
            <a:off x="457200" y="1325880"/>
            <a:ext cx="2560320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1508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PE Contradiction Engine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788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Finds suspicious relationships between PE properties instead of judging each feature on its own.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291840" y="1325880"/>
            <a:ext cx="2560320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520440" y="1508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Explainable Risk Score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2788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Maps contradictions to human-readable evidence and an overall 0-100 risk score.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126480" y="1325880"/>
            <a:ext cx="2560320" cy="30175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55080" y="1508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Calibrated Prediction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355080" y="2788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Separates raw classifier confidence from a calibrated malware probability.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PROPOSED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What is a PE contradiction?</a:t>
            </a:r>
          </a:p>
        </p:txBody>
      </p:sp>
      <p:sp>
        <p:nvSpPr>
          <p:cNvPr id="5" name="Text 2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Two or more observable properties of a PE file that do not naturally agree with each other, or with the apparent identity or function of the file.</a:t>
            </a:r>
            <a:endParaRPr lang="en-US" sz="1500" dirty="0"/>
          </a:p>
        </p:txBody>
      </p:sp>
      <p:sp>
        <p:nvSpPr>
          <p:cNvPr id="6" name="Claim box"/>
          <p:cNvSpPr/>
          <p:nvPr/>
        </p:nvSpPr>
        <p:spPr>
          <a:xfrm>
            <a:off x="457200" y="2011680"/>
            <a:ext cx="2651760" cy="640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66928" y="2011680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Section .text entropy about 7.9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3154680" y="201168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+</a:t>
            </a:r>
            <a:endParaRPr lang="en-US" sz="2000" dirty="0"/>
          </a:p>
        </p:txBody>
      </p:sp>
      <p:sp>
        <p:nvSpPr>
          <p:cNvPr id="9" name="Evidence box"/>
          <p:cNvSpPr/>
          <p:nvPr/>
        </p:nvSpPr>
        <p:spPr>
          <a:xfrm>
            <a:off x="3520440" y="2011680"/>
            <a:ext cx="2377440" cy="640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630168" y="201168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8 imports, almost no strings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20116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Finding box"/>
          <p:cNvSpPr/>
          <p:nvPr/>
        </p:nvSpPr>
        <p:spPr>
          <a:xfrm>
            <a:off x="6355080" y="2011680"/>
            <a:ext cx="2331720" cy="6400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64808" y="201168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</a:rPr>
              <a:t>Possible packing or obfuscation</a:t>
            </a:r>
            <a:endParaRPr lang="en-US" sz="1250" dirty="0"/>
          </a:p>
        </p:txBody>
      </p:sp>
      <p:sp>
        <p:nvSpPr>
          <p:cNvPr id="14" name="Claim box"/>
          <p:cNvSpPr/>
          <p:nvPr/>
        </p:nvSpPr>
        <p:spPr>
          <a:xfrm>
            <a:off x="457200" y="2788920"/>
            <a:ext cx="2651760" cy="640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66928" y="2788920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Named report.pdf.exe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3154680" y="27889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+</a:t>
            </a:r>
            <a:endParaRPr lang="en-US" sz="2000" dirty="0"/>
          </a:p>
        </p:txBody>
      </p:sp>
      <p:sp>
        <p:nvSpPr>
          <p:cNvPr id="17" name="Evidence box"/>
          <p:cNvSpPr/>
          <p:nvPr/>
        </p:nvSpPr>
        <p:spPr>
          <a:xfrm>
            <a:off x="3520440" y="2788920"/>
            <a:ext cx="2377440" cy="640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630168" y="278892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Actually a PE executable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5943600" y="27889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Finding box"/>
          <p:cNvSpPr/>
          <p:nvPr/>
        </p:nvSpPr>
        <p:spPr>
          <a:xfrm>
            <a:off x="6355080" y="2788920"/>
            <a:ext cx="2331720" cy="6400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64808" y="278892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</a:rPr>
              <a:t>Identity mismatch</a:t>
            </a:r>
            <a:endParaRPr lang="en-US" sz="1250" dirty="0"/>
          </a:p>
        </p:txBody>
      </p:sp>
      <p:sp>
        <p:nvSpPr>
          <p:cNvPr id="22" name="Claim box"/>
          <p:cNvSpPr/>
          <p:nvPr/>
        </p:nvSpPr>
        <p:spPr>
          <a:xfrm>
            <a:off x="457200" y="3566160"/>
            <a:ext cx="2651760" cy="640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66928" y="3566160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VirtualAlloc + WriteProcessMemory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3154680" y="3566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+</a:t>
            </a:r>
            <a:endParaRPr lang="en-US" sz="2000" dirty="0"/>
          </a:p>
        </p:txBody>
      </p:sp>
      <p:sp>
        <p:nvSpPr>
          <p:cNvPr id="25" name="Evidence box"/>
          <p:cNvSpPr/>
          <p:nvPr/>
        </p:nvSpPr>
        <p:spPr>
          <a:xfrm>
            <a:off x="3520440" y="3566160"/>
            <a:ext cx="2377440" cy="640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630168" y="356616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+ CreateRemoteThread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5943600" y="35661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Finding box"/>
          <p:cNvSpPr/>
          <p:nvPr/>
        </p:nvSpPr>
        <p:spPr>
          <a:xfrm>
            <a:off x="6355080" y="3566160"/>
            <a:ext cx="2331720" cy="6400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464808" y="356616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</a:rPr>
              <a:t>Process-injection-like API combination (investigate)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Each finding is reported as something to investigate, not as a definitive conclusion.</a:t>
            </a:r>
            <a:endParaRPr lang="en-US" sz="11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PROPOSED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Proposed analysis pipeline</a:t>
            </a:r>
          </a:p>
        </p:txBody>
      </p:sp>
      <p:sp>
        <p:nvSpPr>
          <p:cNvPr id="5" name="Timeline"/>
          <p:cNvSpPr/>
          <p:nvPr/>
        </p:nvSpPr>
        <p:spPr>
          <a:xfrm>
            <a:off x="822960" y="1874520"/>
            <a:ext cx="749808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280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Stage dot"/>
          <p:cNvSpPr/>
          <p:nvPr/>
        </p:nvSpPr>
        <p:spPr>
          <a:xfrm>
            <a:off x="457200" y="1764792"/>
            <a:ext cx="219456" cy="21945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Ingest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487168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Hash and record the PE sample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1280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Stage dot"/>
          <p:cNvSpPr/>
          <p:nvPr/>
        </p:nvSpPr>
        <p:spPr>
          <a:xfrm>
            <a:off x="1828800" y="1764792"/>
            <a:ext cx="219456" cy="21945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828800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Extract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828800" y="2487168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pefile: headers, sections, imports, strings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200400" y="1280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Stage dot"/>
          <p:cNvSpPr/>
          <p:nvPr/>
        </p:nvSpPr>
        <p:spPr>
          <a:xfrm>
            <a:off x="3200400" y="1764792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200400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Contradict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200400" y="2487168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Rules in five categories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280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Stage dot"/>
          <p:cNvSpPr/>
          <p:nvPr/>
        </p:nvSpPr>
        <p:spPr>
          <a:xfrm>
            <a:off x="4572000" y="1764792"/>
            <a:ext cx="219456" cy="21945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572000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Score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2487168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Evidence to a 0-100 risk score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0" y="1280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Stage dot"/>
          <p:cNvSpPr/>
          <p:nvPr/>
        </p:nvSpPr>
        <p:spPr>
          <a:xfrm>
            <a:off x="5943600" y="1764792"/>
            <a:ext cx="219456" cy="21945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943600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Calibrate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943600" y="2487168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Random Forest plus Platt or isotonic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0" y="1280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06</a:t>
            </a:r>
            <a:endParaRPr lang="en-US" sz="1400" dirty="0"/>
          </a:p>
        </p:txBody>
      </p:sp>
      <p:sp>
        <p:nvSpPr>
          <p:cNvPr id="27" name="Stage dot"/>
          <p:cNvSpPr/>
          <p:nvPr/>
        </p:nvSpPr>
        <p:spPr>
          <a:xfrm>
            <a:off x="7315200" y="1764792"/>
            <a:ext cx="219456" cy="21945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315200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Report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0" y="2487168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Risk, evidence, IoCs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Every finding carries a name, severity, score, evidence and explanation, so the same record drives the score, the report and later validation. Ghidra and dynamic monitoring are used only to check selected high-risk samples.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PROPOSED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System architecture and data flow</a:t>
            </a:r>
          </a:p>
        </p:txBody>
      </p:sp>
      <p:sp>
        <p:nvSpPr>
          <p:cNvPr id="5" name="Stage box"/>
          <p:cNvSpPr/>
          <p:nvPr/>
        </p:nvSpPr>
        <p:spPr>
          <a:xfrm>
            <a:off x="457200" y="1280160"/>
            <a:ext cx="1783080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3898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PE sample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accent5"/>
                </a:solidFill>
              </a:rPr>
              <a:t>binary and hash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28016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tage box"/>
          <p:cNvSpPr/>
          <p:nvPr/>
        </p:nvSpPr>
        <p:spPr>
          <a:xfrm>
            <a:off x="2606040" y="1280160"/>
            <a:ext cx="1783080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697480" y="13898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pefile extractor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1737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accent5"/>
                </a:solidFill>
              </a:rPr>
              <a:t>headers, sections, imports, strings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389120" y="128016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tage box"/>
          <p:cNvSpPr/>
          <p:nvPr/>
        </p:nvSpPr>
        <p:spPr>
          <a:xfrm>
            <a:off x="4754880" y="1280160"/>
            <a:ext cx="1783080" cy="10515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46320" y="13898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Contradiction engine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1737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bg2"/>
                </a:solidFill>
              </a:rPr>
              <a:t>five categories of rules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128016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tage box"/>
          <p:cNvSpPr/>
          <p:nvPr/>
        </p:nvSpPr>
        <p:spPr>
          <a:xfrm>
            <a:off x="6903720" y="1280160"/>
            <a:ext cx="1783080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995160" y="13898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Evidence scoring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995160" y="1737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accent5"/>
                </a:solidFill>
              </a:rPr>
              <a:t>name, severity, score, evidence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2331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↓</a:t>
            </a:r>
            <a:endParaRPr lang="en-US" sz="2000" dirty="0"/>
          </a:p>
        </p:txBody>
      </p:sp>
      <p:sp>
        <p:nvSpPr>
          <p:cNvPr id="21" name="Stage box"/>
          <p:cNvSpPr/>
          <p:nvPr/>
        </p:nvSpPr>
        <p:spPr>
          <a:xfrm>
            <a:off x="457200" y="2743200"/>
            <a:ext cx="1783080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8640" y="28529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accent5"/>
                </a:solidFill>
              </a:rPr>
              <a:t>Ghidra, dynamic checks on selected samples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2240280" y="274320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←</a:t>
            </a:r>
            <a:endParaRPr lang="en-US" sz="2000" dirty="0"/>
          </a:p>
        </p:txBody>
      </p:sp>
      <p:sp>
        <p:nvSpPr>
          <p:cNvPr id="25" name="Stage box"/>
          <p:cNvSpPr/>
          <p:nvPr/>
        </p:nvSpPr>
        <p:spPr>
          <a:xfrm>
            <a:off x="2606040" y="2743200"/>
            <a:ext cx="1783080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2697480" y="28529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Explainable report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69748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accent5"/>
                </a:solidFill>
              </a:rPr>
              <a:t>risk level, evidence, IoCs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4389120" y="274320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←</a:t>
            </a:r>
            <a:endParaRPr lang="en-US" sz="2000" dirty="0"/>
          </a:p>
        </p:txBody>
      </p:sp>
      <p:sp>
        <p:nvSpPr>
          <p:cNvPr id="29" name="Stage box"/>
          <p:cNvSpPr/>
          <p:nvPr/>
        </p:nvSpPr>
        <p:spPr>
          <a:xfrm>
            <a:off x="4754880" y="2743200"/>
            <a:ext cx="1783080" cy="10515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846320" y="28529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Calibration layer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84632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bg2"/>
                </a:solidFill>
              </a:rPr>
              <a:t>Platt or isotonic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6537960" y="274320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←</a:t>
            </a:r>
            <a:endParaRPr lang="en-US" sz="2000" dirty="0"/>
          </a:p>
        </p:txBody>
      </p:sp>
      <p:sp>
        <p:nvSpPr>
          <p:cNvPr id="33" name="Stage box"/>
          <p:cNvSpPr/>
          <p:nvPr/>
        </p:nvSpPr>
        <p:spPr>
          <a:xfrm>
            <a:off x="6903720" y="2743200"/>
            <a:ext cx="1783080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995160" y="28529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Rule score + ML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99516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accent5"/>
                </a:solidFill>
              </a:rPr>
              <a:t>Random Forest on features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Rule-based evidence and the machine learning model run side by side; only the calibrated value is reported as a probability.</a:t>
            </a:r>
            <a:endParaRPr lang="en-US" sz="11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PROPOSED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Five contradiction categories</a:t>
            </a:r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0175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Category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Examples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Why it contradicts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A. Identity</a:t>
                      </a:r>
                      <a:endParaRPr lang="en-US" sz="125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report.pdf.exe, photo.jpg.exe, extension vs PE type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Looks like a document, is an executable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B. Section</a:t>
                      </a:r>
                      <a:endParaRPr lang="en-US" sz="125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RWX sections, executable and writable, odd sizes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Normal compilers rarely build them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C. Entropy-content</a:t>
                      </a:r>
                      <a:endParaRPr lang="en-US" sz="125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High entropy, few strings, few imports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Content hidden from static view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D. API</a:t>
                      </a:r>
                      <a:endParaRPr lang="en-US" sz="125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VirtualAlloc, WriteProcessMemory, CreateRemoteThread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Behaviorally relevant combination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E. Structural</a:t>
                      </a:r>
                      <a:endParaRPr lang="en-US" sz="125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Unusual entry point, abnormal layout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Header and sections disagree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TOOLING JUSTIFICATION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Tooling: build and analysis</a:t>
            </a:r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23392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Tool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Role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Why it was selected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pefile</a:t>
                      </a:r>
                      <a:endParaRPr lang="en-US" sz="125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PE parsing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Reads headers, sections and imports directly in Python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pandas, NumPy</a:t>
                      </a:r>
                      <a:endParaRPr lang="en-US" sz="125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Feature tables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Turns JSON feature records into a model-ready dataset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scikit-learn</a:t>
                      </a:r>
                      <a:endParaRPr lang="en-US" sz="125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Random Forest, calibration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CalibratedClassifierCV supports Platt scaling and isotonic regression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matplotlib</a:t>
                      </a:r>
                      <a:endParaRPr lang="en-US" sz="125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Plots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Reliability diagram, ROC curve, confusion matrix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Flask</a:t>
                      </a:r>
                      <a:endParaRPr lang="en-US" sz="125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Interface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Simple upload, analyze and report workflow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YARA (optional)</a:t>
                      </a:r>
                      <a:endParaRPr lang="en-US" sz="125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Rules from confirmed patterns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Packages confirmed indicators as reusable signatures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TOOLING JUSTIFICATION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Tooling: reverse engineering and dynamic validation</a:t>
            </a:r>
          </a:p>
        </p:txBody>
      </p:sp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85292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Tool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Role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Why it was selected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PEStudio, Detect It Easy</a:t>
                      </a:r>
                      <a:endParaRPr lang="en-US" sz="125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Static cross-check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Second opinion on sections, packer and imports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Ghidra</a:t>
                      </a:r>
                      <a:endParaRPr lang="en-US" sz="125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Disassembly and decompilation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Check entry point, imports, strings and control flow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Procmon, Process Explorer</a:t>
                      </a:r>
                      <a:endParaRPr lang="en-US" sz="125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Process, file, registry activity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Shows what a flagged sample actually does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Wireshark</a:t>
                      </a:r>
                      <a:endParaRPr lang="en-US" sz="125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Network capture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Shows connection attempts and traffic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Regshot</a:t>
                      </a:r>
                      <a:endParaRPr lang="en-US" sz="125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Registry and file diff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Compares system state before and after a run</a:t>
                      </a:r>
                      <a:endParaRPr lang="en-US" sz="12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Samples run only in an isolated VM with no network exposure to the host or production systems.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EVIDENCE SCORING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From contradictions to a 0-100 score</a:t>
            </a:r>
          </a:p>
        </p:txBody>
      </p:sp>
      <p:graphicFrame>
        <p:nvGraphicFramePr>
          <p:cNvPr id="5" name="Weights chart"/>
          <p:cNvGraphicFramePr/>
          <p:nvPr/>
        </p:nvGraphicFramePr>
        <p:xfrm>
          <a:off x="457200" y="1234440"/>
          <a:ext cx="48463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669280" y="1325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Each finding carries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669280" y="1691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name and severity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score and raw evidence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plain-language explanation</a:t>
            </a:r>
            <a:endParaRPr lang="en-US" sz="1400" dirty="0"/>
          </a:p>
        </p:txBody>
      </p:sp>
      <p:sp>
        <p:nvSpPr>
          <p:cNvPr id="8" name="Dark card"/>
          <p:cNvSpPr/>
          <p:nvPr/>
        </p:nvSpPr>
        <p:spPr>
          <a:xfrm>
            <a:off x="5669280" y="2880360"/>
            <a:ext cx="3017520" cy="14630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852160" y="3017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Weights are assigned first, then tuned on the validation set. They are not claimed to be optimal.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CALIBRATION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Raw score vs. calibrated probability</a:t>
            </a:r>
          </a:p>
        </p:txBody>
      </p:sp>
      <p:sp>
        <p:nvSpPr>
          <p:cNvPr id="5" name="Card"/>
          <p:cNvSpPr/>
          <p:nvPr/>
        </p:nvSpPr>
        <p:spPr>
          <a:xfrm>
            <a:off x="457200" y="1280160"/>
            <a:ext cx="2743200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0.91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3"/>
                </a:solidFill>
              </a:rPr>
              <a:t>raw Random Forest score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246120" y="1280160"/>
            <a:ext cx="640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→</a:t>
            </a:r>
            <a:endParaRPr lang="en-US" sz="3000" dirty="0"/>
          </a:p>
        </p:txBody>
      </p:sp>
      <p:sp>
        <p:nvSpPr>
          <p:cNvPr id="9" name="Dark card"/>
          <p:cNvSpPr/>
          <p:nvPr/>
        </p:nvSpPr>
        <p:spPr>
          <a:xfrm>
            <a:off x="3931920" y="1280160"/>
            <a:ext cx="2743200" cy="17373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93192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0.84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393192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calibrated probability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14173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Reported to the analyst: estimated malware probability 84%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2461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Random Forest is fit on the training split only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CalibratedClassifierCV (Platt or isotonic) is fit on the validation split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Judged by Brier score, calibration error and a reliability diagram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Illustrative values only, not measured results.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DATASET AND EVALUATION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Dataset and split</a:t>
            </a:r>
          </a:p>
        </p:txBody>
      </p:sp>
      <p:sp>
        <p:nvSpPr>
          <p:cNvPr id="5" name="Split card"/>
          <p:cNvSpPr/>
          <p:nvPr/>
        </p:nvSpPr>
        <p:spPr>
          <a:xfrm>
            <a:off x="457200" y="1280160"/>
            <a:ext cx="1417320" cy="12801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3716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70%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0574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training</a:t>
            </a:r>
            <a:endParaRPr lang="en-US" sz="1300" dirty="0"/>
          </a:p>
        </p:txBody>
      </p:sp>
      <p:sp>
        <p:nvSpPr>
          <p:cNvPr id="8" name="Split card"/>
          <p:cNvSpPr/>
          <p:nvPr/>
        </p:nvSpPr>
        <p:spPr>
          <a:xfrm>
            <a:off x="2057400" y="1280160"/>
            <a:ext cx="1417320" cy="12801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057400" y="13716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2057400" y="20574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3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11" name="Split card"/>
          <p:cNvSpPr/>
          <p:nvPr/>
        </p:nvSpPr>
        <p:spPr>
          <a:xfrm>
            <a:off x="3657600" y="1280160"/>
            <a:ext cx="1417320" cy="12801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657600" y="13716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15%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0" y="20574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3"/>
                </a:solidFill>
              </a:rPr>
              <a:t>testing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Three subsets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0" y="1645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Benign PE files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Malware PE samples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Packed or obfuscated subset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Near-duplicate samples are removed before splitting, so similar files never appear in both training and test sets. Otherwise accuracy would look better than it is.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Dataset sizes: [N benign], [N malware], [N packed]. Fill in from the final dataset.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DATASET AND EVALUATION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Experiments</a:t>
            </a:r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8346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Experiment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Setup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Measured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1. Baseline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Conventional PE features only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Accuracy, precision, recall, F1, ROC-AUC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2. Contradiction features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Conventional plus contradiction features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Same metrics, compared with 1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3. Calibration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Raw vs calibrated predictions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Reliability diagram, Brier score, calibration error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4. Explainability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Selected malware samples traced to top evidence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Does the evidence match the actual file?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Experiment 2 against Experiment 1 tests whether contradiction features add value.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PROTOTYPE AND LIVE DEMONSTRATION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Prototype: Flask interface</a:t>
            </a:r>
          </a:p>
        </p:txBody>
      </p:sp>
      <p:sp>
        <p:nvSpPr>
          <p:cNvPr id="5" name="Text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simple web interface: upload a PE file, run the analysis, and open a report with a Why view for each finding.</a:t>
            </a:r>
            <a:endParaRPr lang="en-US" sz="1400" dirty="0"/>
          </a:p>
        </p:txBody>
      </p:sp>
      <p:sp>
        <p:nvSpPr>
          <p:cNvPr id="6" name="Screenshot placeholder"/>
          <p:cNvSpPr/>
          <p:nvPr/>
        </p:nvSpPr>
        <p:spPr>
          <a:xfrm>
            <a:off x="457200" y="1783080"/>
            <a:ext cx="3977640" cy="224028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[ INSERT SCREENSHOT ]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i="1" dirty="0">
                <a:solidFill>
                  <a:schemeClr val="accent3"/>
                </a:solidFill>
              </a:rPr>
              <a:t>Upload page of Masquerade</a:t>
            </a:r>
            <a:endParaRPr lang="en-US" sz="1200" dirty="0"/>
          </a:p>
        </p:txBody>
      </p:sp>
      <p:sp>
        <p:nvSpPr>
          <p:cNvPr id="7" name="Screenshot placeholder"/>
          <p:cNvSpPr/>
          <p:nvPr/>
        </p:nvSpPr>
        <p:spPr>
          <a:xfrm>
            <a:off x="4709160" y="1783080"/>
            <a:ext cx="3977640" cy="224028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[ INSERT SCREENSHOT ]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i="1" dirty="0">
                <a:solidFill>
                  <a:schemeClr val="accent3"/>
                </a:solidFill>
              </a:rPr>
              <a:t>Result page: risk level, calibrated probability, contradictions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069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Upload: nothing is executed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709160" y="4069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Report: contradictions and evidence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PROTOTYPE AND LIVE DEMONSTRATION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Demo: explainable triage report</a:t>
            </a:r>
          </a:p>
        </p:txBody>
      </p:sp>
      <p:sp>
        <p:nvSpPr>
          <p:cNvPr id="5" name="Report card"/>
          <p:cNvSpPr/>
          <p:nvPr/>
        </p:nvSpPr>
        <p:spPr>
          <a:xfrm>
            <a:off x="457200" y="1234440"/>
            <a:ext cx="5394960" cy="29260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6" name="Report text"/>
          <p:cNvSpPr txBox="1"/>
          <p:nvPr/>
        </p:nvSpPr>
        <p:spPr>
          <a:xfrm>
            <a:off x="640080" y="137160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MASQUERADE TRIAGE REPORT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Risk: HIGH   Calibrated probability: 87%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[HIGH]   Possible packing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entropy 7.94, sparse imports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[HIGH]   RWX section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.xyz is R/W/X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[MEDIUM] API combination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VirtualAlloc + WriteProcessMemory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[MEDIUM] Identity mismatch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[LOW]    Unusual section structure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280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Why this format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164592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Each line is a finding with a severity and the raw values behind it. An analyst can verify every claim in the file.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343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Illustrative format and values, not output from a captured sample.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PROTOTYPE AND LIVE DEMONSTRATION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Prototype evidence</a:t>
            </a:r>
          </a:p>
        </p:txBody>
      </p:sp>
      <p:sp>
        <p:nvSpPr>
          <p:cNvPr id="5" name="Screenshot placeholder"/>
          <p:cNvSpPr/>
          <p:nvPr/>
        </p:nvSpPr>
        <p:spPr>
          <a:xfrm>
            <a:off x="457200" y="1280160"/>
            <a:ext cx="2651760" cy="246888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[ INSERT SCREENSHOT ]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i="1" dirty="0">
                <a:solidFill>
                  <a:schemeClr val="accent3"/>
                </a:solidFill>
              </a:rPr>
              <a:t>JSON feature output from the PE extractor</a:t>
            </a:r>
            <a:endParaRPr lang="en-US" sz="1200" dirty="0"/>
          </a:p>
        </p:txBody>
      </p:sp>
      <p:sp>
        <p:nvSpPr>
          <p:cNvPr id="6" name="Screenshot placeholder"/>
          <p:cNvSpPr/>
          <p:nvPr/>
        </p:nvSpPr>
        <p:spPr>
          <a:xfrm>
            <a:off x="3246120" y="1280160"/>
            <a:ext cx="2651760" cy="246888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[ INSERT SCREENSHOT ]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i="1" dirty="0">
                <a:solidFill>
                  <a:schemeClr val="accent3"/>
                </a:solidFill>
              </a:rPr>
              <a:t>Contradiction engine output with evidence</a:t>
            </a:r>
            <a:endParaRPr lang="en-US" sz="1200" dirty="0"/>
          </a:p>
        </p:txBody>
      </p:sp>
      <p:sp>
        <p:nvSpPr>
          <p:cNvPr id="7" name="Screenshot placeholder"/>
          <p:cNvSpPr/>
          <p:nvPr/>
        </p:nvSpPr>
        <p:spPr>
          <a:xfrm>
            <a:off x="6035040" y="1280160"/>
            <a:ext cx="2651760" cy="246888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[ INSERT SCREENSHOT ]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i="1" dirty="0">
                <a:solidFill>
                  <a:schemeClr val="accent3"/>
                </a:solidFill>
              </a:rPr>
              <a:t>Reliability diagram: raw vs calibrated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840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Extractor: sections, entropy, imports, RWX count, SHA-256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246120" y="3840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Engine: name, severity, score and raw evidence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3840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Calibration: how closely probabilities match outcomes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RESULTS AND VALIDATION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Results</a:t>
            </a:r>
          </a:p>
        </p:txBody>
      </p:sp>
      <p:sp>
        <p:nvSpPr>
          <p:cNvPr id="5" name="Text 2"/>
          <p:cNvSpPr txBox="1"/>
          <p:nvPr/>
        </p:nvSpPr>
        <p:spPr>
          <a:xfrm>
            <a:off x="45720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Detection (Experiments 1 and 2)</a:t>
            </a:r>
            <a:endParaRPr lang="en-US" sz="1500" dirty="0"/>
          </a:p>
        </p:txBody>
      </p:sp>
      <p:graphicFrame>
        <p:nvGraphicFramePr>
          <p:cNvPr id="2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4023360" cy="230428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Metric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Conventional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+ Contradiction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Accuracy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[value]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[value]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Precision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[value]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[value]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Recall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[value]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[value]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F1-score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[value]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[value]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ROC-AUC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[value]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[value]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84632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Calibration (Experiment 3)</a:t>
            </a:r>
            <a:endParaRPr lang="en-US" sz="1500" dirty="0"/>
          </a:p>
        </p:txBody>
      </p:sp>
      <p:graphicFrame>
        <p:nvGraphicFramePr>
          <p:cNvPr id="4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600200"/>
          <a:ext cx="3840480" cy="1152144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Metric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Raw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Calibrated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Brier score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[value]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[value]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Calibration error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[value]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[value]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Card"/>
          <p:cNvSpPr/>
          <p:nvPr/>
        </p:nvSpPr>
        <p:spPr>
          <a:xfrm>
            <a:off x="4846320" y="2971800"/>
            <a:ext cx="3840480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5029200" y="31089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Report only results that can be reproduced. Add the confusion matrix and ROC curve from the test set.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RESULTS AND VALIDATION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Reverse engineering and dynamic validation</a:t>
            </a:r>
          </a:p>
        </p:txBody>
      </p:sp>
      <p:graphicFrame>
        <p:nvGraphicFramePr>
          <p:cNvPr id="2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1945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Sample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Masquerade finding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Ghidra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Dynamic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Consistent?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[sample 1]</a:t>
                      </a:r>
                      <a:endParaRPr lang="en-US" sz="12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[e.g. possible packing]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[observation]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[observation]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[yes / partial / no]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[sample 2]</a:t>
                      </a:r>
                      <a:endParaRPr lang="en-US" sz="12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[finding]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[observation]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[observation]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[yes / partial / no]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[sample 3]</a:t>
                      </a:r>
                      <a:endParaRPr lang="en-US" sz="12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[finding]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[observation]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[observation]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[yes / partial / no]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Two to three samples in Ghidra and five to ten in an isolated VM. This checks the static findings; it is not a full evaluation.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RESULTS AND VALIDATION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Validation evidence</a:t>
            </a:r>
          </a:p>
        </p:txBody>
      </p:sp>
      <p:sp>
        <p:nvSpPr>
          <p:cNvPr id="5" name="Screenshot placeholder"/>
          <p:cNvSpPr/>
          <p:nvPr/>
        </p:nvSpPr>
        <p:spPr>
          <a:xfrm>
            <a:off x="457200" y="1280160"/>
            <a:ext cx="2651760" cy="246888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[ INSERT SCREENSHOT ]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i="1" dirty="0">
                <a:solidFill>
                  <a:schemeClr val="accent3"/>
                </a:solidFill>
              </a:rPr>
              <a:t>Ghidra: entry point, imports or decompiled code</a:t>
            </a:r>
            <a:endParaRPr lang="en-US" sz="1200" dirty="0"/>
          </a:p>
        </p:txBody>
      </p:sp>
      <p:sp>
        <p:nvSpPr>
          <p:cNvPr id="6" name="Screenshot placeholder"/>
          <p:cNvSpPr/>
          <p:nvPr/>
        </p:nvSpPr>
        <p:spPr>
          <a:xfrm>
            <a:off x="3246120" y="1280160"/>
            <a:ext cx="2651760" cy="246888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[ INSERT SCREENSHOT ]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i="1" dirty="0">
                <a:solidFill>
                  <a:schemeClr val="accent3"/>
                </a:solidFill>
              </a:rPr>
              <a:t>Procmon / Process Explorer activity</a:t>
            </a:r>
            <a:endParaRPr lang="en-US" sz="1200" dirty="0"/>
          </a:p>
        </p:txBody>
      </p:sp>
      <p:sp>
        <p:nvSpPr>
          <p:cNvPr id="7" name="Screenshot placeholder"/>
          <p:cNvSpPr/>
          <p:nvPr/>
        </p:nvSpPr>
        <p:spPr>
          <a:xfrm>
            <a:off x="6035040" y="1280160"/>
            <a:ext cx="2651760" cy="246888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[ INSERT SCREENSHOT ]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i="1" dirty="0">
                <a:solidFill>
                  <a:schemeClr val="accent3"/>
                </a:solidFill>
              </a:rPr>
              <a:t>Wireshark capture and Regshot diff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Static claim checked in the disassembly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24612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Process, file and registry behavior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Network and system-state changes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WRAP-UP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Limitations and future work</a:t>
            </a:r>
          </a:p>
        </p:txBody>
      </p:sp>
      <p:sp>
        <p:nvSpPr>
          <p:cNvPr id="5" name="Text 2"/>
          <p:cNvSpPr txBox="1"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4592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dataset is small, so results may not generalize.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Static analysis cannot see runtime behavior; packed files reveal little.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Rules are heuristics; benign software can trigger them.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Weights are tuned, not proven optimal.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Validation covers only a few selected samples.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164592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Larger, hashed and carefully handled corpus.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Unpack samples before extracting features.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Windowed entropy to locate where packed data starts [2].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Review the rule set regularly against evasion.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2"/>
                </a:solidFill>
              </a:rPr>
              <a:t>WRAP-UP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Conclusion</a:t>
            </a:r>
          </a:p>
        </p:txBody>
      </p:sp>
      <p:sp>
        <p:nvSpPr>
          <p:cNvPr id="5" name="Text 2"/>
          <p:cNvSpPr txBox="1"/>
          <p:nvPr/>
        </p:nvSpPr>
        <p:spPr>
          <a:xfrm>
            <a:off x="457200" y="13258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371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Ask whether a file's properties agree with each other and with its claimed identity, not only whether one feature looks bad.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240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2860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Show every verdict as named, scored evidence that an analyst can check in the file.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1546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32004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Calibrate the score so the reported probability can be used for prioritization.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Thank you. Questions?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WRAP-UP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References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[1] H. S. Anderson and P. Roth, "EMBER: An Open Dataset for Training Static PE Malware Machine Learning Models," arXiv:1804.04637, 2018.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[2] R. Lyda and J. Hamrock, "Using Entropy Analysis to Find Encrypted and Packed Malware," IEEE Security &amp; Privacy, vol. 5, no. 2, 2007.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[3] C. Guo, G. Pleiss, Y. Sun and K. Q. Weinberger, "On Calibration of Modern Neural Networks," ICML, 2017.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[4] MITRE ATT&amp;CK, "T1036: Masquerading," attack.mitre.org/techniques/T1036.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[5] J. Platt, "Probabilistic Outputs for Support Vector Machines and Comparisons to Regularized Likelihood Methods," 1999.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[6] Microsoft, "PE Format," learn.microsoft.com/en-us/windows/win32/debug/pe-format.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querade">
  <a:themeElements>
    <a:clrScheme name="Masquerade">
      <a:dk1>
        <a:srgbClr val="15171C"/>
      </a:dk1>
      <a:lt1>
        <a:srgbClr val="FFFFFF"/>
      </a:lt1>
      <a:dk2>
        <a:srgbClr val="2B2E36"/>
      </a:dk2>
      <a:lt2>
        <a:srgbClr val="F2F2F3"/>
      </a:lt2>
      <a:accent1>
        <a:srgbClr val="8C2B2F"/>
      </a:accent1>
      <a:accent2>
        <a:srgbClr val="D4A94E"/>
      </a:accent2>
      <a:accent3>
        <a:srgbClr val="6B7280"/>
      </a:accent3>
      <a:accent4>
        <a:srgbClr val="B5484D"/>
      </a:accent4>
      <a:accent5>
        <a:srgbClr val="3E4452"/>
      </a:accent5>
      <a:accent6>
        <a:srgbClr val="A0A5B0"/>
      </a:accent6>
      <a:hlink>
        <a:srgbClr val="8C2B2F"/>
      </a:hlink>
      <a:folHlink>
        <a:srgbClr val="6B7280"/>
      </a:folHlink>
    </a:clrScheme>
    <a:fontScheme name="Masquerad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2628</Words>
  <Application>Microsoft Office PowerPoint</Application>
  <PresentationFormat>On-screen Show (16:9)</PresentationFormat>
  <Paragraphs>487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</vt:lpstr>
      <vt:lpstr>Courier New</vt:lpstr>
      <vt:lpstr>Masquerade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Masquerade: Explainable Static Malware Triage</dc:title>
  <dc:subject>PptxGenJS Presentation</dc:subject>
  <dc:creator>Manan Arora, Krishika Sureka</dc:creator>
  <cp:lastModifiedBy>Lenovo</cp:lastModifiedBy>
  <cp:revision>1</cp:revision>
  <dcterms:created xsi:type="dcterms:W3CDTF">2026-10-07T17:09:18Z</dcterms:created>
  <dcterms:modified xsi:type="dcterms:W3CDTF">2026-10-07T17:30:20Z</dcterms:modified>
</cp:coreProperties>
</file>